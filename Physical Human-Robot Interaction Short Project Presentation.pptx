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5143500" cx="9144000"/>
  <p:notesSz cx="6858000" cy="9144000"/>
  <p:embeddedFontLst>
    <p:embeddedFont>
      <p:font typeface="Nunito"/>
      <p:regular r:id="rId39"/>
      <p:bold r:id="rId40"/>
      <p:italic r:id="rId41"/>
      <p:boldItalic r:id="rId42"/>
    </p:embeddedFont>
    <p:embeddedFont>
      <p:font typeface="Maven Pro"/>
      <p:regular r:id="rId43"/>
      <p:bold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unito-bold.fntdata"/><Relationship Id="rId20" Type="http://schemas.openxmlformats.org/officeDocument/2006/relationships/slide" Target="slides/slide15.xml"/><Relationship Id="rId42" Type="http://schemas.openxmlformats.org/officeDocument/2006/relationships/font" Target="fonts/Nunito-boldItalic.fntdata"/><Relationship Id="rId41" Type="http://schemas.openxmlformats.org/officeDocument/2006/relationships/font" Target="fonts/Nunito-italic.fntdata"/><Relationship Id="rId22" Type="http://schemas.openxmlformats.org/officeDocument/2006/relationships/slide" Target="slides/slide17.xml"/><Relationship Id="rId44" Type="http://schemas.openxmlformats.org/officeDocument/2006/relationships/font" Target="fonts/MavenPro-bold.fntdata"/><Relationship Id="rId21" Type="http://schemas.openxmlformats.org/officeDocument/2006/relationships/slide" Target="slides/slide16.xml"/><Relationship Id="rId43" Type="http://schemas.openxmlformats.org/officeDocument/2006/relationships/font" Target="fonts/MavenPro-regular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Nunito-regular.fntdata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c6f90357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c6f9035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c6f90357f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c6f90357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c6f90357f_0_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c6f90357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ab954396d9_0_80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2ab954396d9_0_8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ab954396d9_0_8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2ab954396d9_0_8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c6f90357f_0_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c6f90357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c6f90357f_0_3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c6f90357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2ab954396d9_0_8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2ab954396d9_0_8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2ab954396d9_0_84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2ab954396d9_0_8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2ab954396d9_0_84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2ab954396d9_0_8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2ab954396d9_0_84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2ab954396d9_0_8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2ab954396d9_0_85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2ab954396d9_0_8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2ace67f1948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2ace67f1948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2ace67f1948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2ace67f1948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2ace67f1948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2ace67f1948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2ace67f1948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2ace67f1948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2ace67f1948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2ace67f1948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2ace67f1948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2ace67f1948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2ace67f1948_0_9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2ace67f1948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2ace67f1948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2ace67f1948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2ace67f1948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2ace67f1948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2ace67f1948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2ace67f1948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2ace67f1948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2ace67f1948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2ace67f1948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2ace67f1948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2ace67f1948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2ace67f1948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2ace67f1948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2ace67f1948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2ace67f1948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2ace67f1948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2ace67f1948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2ace67f1948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2ace67f1948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2ace67f1948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2ace67f1948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2ace67f1948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2ace67f1948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2ace67f1948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2ace67f1948_0_9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2ace67f1948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2ace67f1948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2ace67f1948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4.png"/><Relationship Id="rId5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1.jpg"/><Relationship Id="rId5" Type="http://schemas.openxmlformats.org/officeDocument/2006/relationships/image" Target="../media/image9.jpg"/><Relationship Id="rId6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26.jpg"/><Relationship Id="rId6" Type="http://schemas.openxmlformats.org/officeDocument/2006/relationships/image" Target="../media/image5.jpg"/><Relationship Id="rId7" Type="http://schemas.openxmlformats.org/officeDocument/2006/relationships/image" Target="../media/image1.jpg"/><Relationship Id="rId8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7.jpg"/><Relationship Id="rId5" Type="http://schemas.openxmlformats.org/officeDocument/2006/relationships/image" Target="../media/image3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3.png"/><Relationship Id="rId4" Type="http://schemas.openxmlformats.org/officeDocument/2006/relationships/image" Target="../media/image2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jpg"/><Relationship Id="rId4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jpg"/><Relationship Id="rId4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0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jpg"/><Relationship Id="rId4" Type="http://schemas.openxmlformats.org/officeDocument/2006/relationships/image" Target="../media/image25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jpg"/><Relationship Id="rId4" Type="http://schemas.openxmlformats.org/officeDocument/2006/relationships/image" Target="../media/image29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8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2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9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0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5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3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7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8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2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4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364700"/>
            <a:ext cx="6303300" cy="272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Collision Detection, Isolation and Identification with Base F/T Sensor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8169900" cy="10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Professor: Alessandro De Luca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Candidate: Alessandro Paglialunga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Course: Elective in Robotics | Physical Human-Robot Interaction</a:t>
            </a:r>
            <a:endParaRPr sz="1900"/>
          </a:p>
        </p:txBody>
      </p:sp>
      <p:sp>
        <p:nvSpPr>
          <p:cNvPr id="279" name="Google Shape;279;p13"/>
          <p:cNvSpPr txBox="1"/>
          <p:nvPr/>
        </p:nvSpPr>
        <p:spPr>
          <a:xfrm>
            <a:off x="5460025" y="174550"/>
            <a:ext cx="21309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{</a:t>
            </a:r>
            <a:r>
              <a:rPr b="1" lang="en" sz="2500">
                <a:solidFill>
                  <a:srgbClr val="00FF00"/>
                </a:solidFill>
                <a:latin typeface="Nunito"/>
                <a:ea typeface="Nunito"/>
                <a:cs typeface="Nunito"/>
                <a:sym typeface="Nunito"/>
              </a:rPr>
              <a:t>True</a:t>
            </a:r>
            <a:r>
              <a:rPr lang="en" sz="2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, </a:t>
            </a:r>
            <a:r>
              <a:rPr b="1" lang="en" sz="2500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False</a:t>
            </a:r>
            <a:r>
              <a:rPr lang="en" sz="2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}</a:t>
            </a:r>
            <a:endParaRPr sz="25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0" name="Google Shape;280;p13"/>
          <p:cNvSpPr/>
          <p:nvPr/>
        </p:nvSpPr>
        <p:spPr>
          <a:xfrm>
            <a:off x="2745375" y="733150"/>
            <a:ext cx="2442300" cy="685200"/>
          </a:xfrm>
          <a:prstGeom prst="ellipse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1" name="Google Shape;281;p13"/>
          <p:cNvSpPr/>
          <p:nvPr/>
        </p:nvSpPr>
        <p:spPr>
          <a:xfrm rot="-6988322">
            <a:off x="5605231" y="534393"/>
            <a:ext cx="413226" cy="1042858"/>
          </a:xfrm>
          <a:prstGeom prst="curvedRightArrow">
            <a:avLst>
              <a:gd fmla="val 25000" name="adj1"/>
              <a:gd fmla="val 50000" name="adj2"/>
              <a:gd fmla="val 47736" name="adj3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764175" y="1418875"/>
            <a:ext cx="2130900" cy="685200"/>
          </a:xfrm>
          <a:prstGeom prst="ellipse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3" name="Google Shape;283;p13"/>
          <p:cNvSpPr/>
          <p:nvPr/>
        </p:nvSpPr>
        <p:spPr>
          <a:xfrm rot="-2288836">
            <a:off x="575756" y="2076596"/>
            <a:ext cx="581364" cy="1541257"/>
          </a:xfrm>
          <a:prstGeom prst="curvedRightArrow">
            <a:avLst>
              <a:gd fmla="val 25000" name="adj1"/>
              <a:gd fmla="val 50000" name="adj2"/>
              <a:gd fmla="val 47736" name="adj3"/>
            </a:avLst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84" name="Google Shape;28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0000" y="2571750"/>
            <a:ext cx="1095375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3"/>
          <p:cNvSpPr/>
          <p:nvPr/>
        </p:nvSpPr>
        <p:spPr>
          <a:xfrm>
            <a:off x="3735975" y="1418875"/>
            <a:ext cx="3200400" cy="685200"/>
          </a:xfrm>
          <a:prstGeom prst="ellipse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6" name="Google Shape;286;p13"/>
          <p:cNvSpPr/>
          <p:nvPr/>
        </p:nvSpPr>
        <p:spPr>
          <a:xfrm flipH="1" rot="-2179063">
            <a:off x="7397670" y="1459880"/>
            <a:ext cx="491843" cy="1074712"/>
          </a:xfrm>
          <a:prstGeom prst="curvedRightArrow">
            <a:avLst>
              <a:gd fmla="val 25000" name="adj1"/>
              <a:gd fmla="val 50000" name="adj2"/>
              <a:gd fmla="val 47736" name="adj3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87" name="Google Shape;28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36375" y="2624138"/>
            <a:ext cx="866775" cy="92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4"/>
          <p:cNvSpPr txBox="1"/>
          <p:nvPr/>
        </p:nvSpPr>
        <p:spPr>
          <a:xfrm>
            <a:off x="484975" y="852900"/>
            <a:ext cx="8526900" cy="38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Nunito"/>
              <a:buChar char="●"/>
            </a:pPr>
            <a:r>
              <a:rPr lang="en" sz="25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Introduction</a:t>
            </a:r>
            <a:endParaRPr sz="25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Nunito"/>
              <a:buChar char="●"/>
            </a:pPr>
            <a:r>
              <a:rPr lang="en" sz="25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Preliminaries</a:t>
            </a:r>
            <a:endParaRPr sz="25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Nunito"/>
              <a:buChar char="○"/>
            </a:pPr>
            <a:r>
              <a:rPr lang="en" sz="25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Dynamic Model</a:t>
            </a:r>
            <a:endParaRPr sz="25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Nunito"/>
              <a:buChar char="○"/>
            </a:pPr>
            <a:r>
              <a:rPr lang="en" sz="25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Extended Dynamic Model</a:t>
            </a:r>
            <a:endParaRPr sz="25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Nunito"/>
              <a:buChar char="○"/>
            </a:pPr>
            <a:r>
              <a:rPr lang="en" sz="25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Extended Momentum-Based Disturbance Observer</a:t>
            </a:r>
            <a:endParaRPr sz="25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Nunito"/>
              <a:buChar char="●"/>
            </a:pPr>
            <a:r>
              <a:rPr lang="en" sz="25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Project implementation</a:t>
            </a:r>
            <a:endParaRPr sz="25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Nunito"/>
              <a:buChar char="●"/>
            </a:pPr>
            <a:r>
              <a:rPr lang="en" sz="25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Simulations &amp; Results</a:t>
            </a:r>
            <a:endParaRPr sz="25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Nunito"/>
              <a:buChar char="●"/>
            </a:pPr>
            <a:r>
              <a:rPr lang="en" sz="25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Conclusions</a:t>
            </a:r>
            <a:endParaRPr sz="25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3" name="Google Shape;293;p14"/>
          <p:cNvSpPr txBox="1"/>
          <p:nvPr>
            <p:ph type="title"/>
          </p:nvPr>
        </p:nvSpPr>
        <p:spPr>
          <a:xfrm>
            <a:off x="1397150" y="0"/>
            <a:ext cx="5857800" cy="98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5"/>
          <p:cNvSpPr txBox="1"/>
          <p:nvPr/>
        </p:nvSpPr>
        <p:spPr>
          <a:xfrm>
            <a:off x="1303800" y="1337175"/>
            <a:ext cx="55404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rPr>
              <a:t>Goal</a:t>
            </a:r>
            <a:r>
              <a:rPr lang="en" sz="17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rPr>
              <a:t>: External Force Estimation</a:t>
            </a:r>
            <a:endParaRPr sz="1700"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9" name="Google Shape;299;p15"/>
          <p:cNvSpPr txBox="1"/>
          <p:nvPr>
            <p:ph type="title"/>
          </p:nvPr>
        </p:nvSpPr>
        <p:spPr>
          <a:xfrm>
            <a:off x="1303800" y="598575"/>
            <a:ext cx="3430500" cy="7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20">
                <a:solidFill>
                  <a:schemeClr val="dk1"/>
                </a:solidFill>
              </a:rPr>
              <a:t>Introduction</a:t>
            </a:r>
            <a:endParaRPr sz="3620">
              <a:solidFill>
                <a:schemeClr val="dk1"/>
              </a:solidFill>
            </a:endParaRPr>
          </a:p>
        </p:txBody>
      </p:sp>
      <p:sp>
        <p:nvSpPr>
          <p:cNvPr id="300" name="Google Shape;300;p15"/>
          <p:cNvSpPr txBox="1"/>
          <p:nvPr/>
        </p:nvSpPr>
        <p:spPr>
          <a:xfrm>
            <a:off x="1303800" y="2689575"/>
            <a:ext cx="5540400" cy="12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rPr>
              <a:t>Assumptions</a:t>
            </a:r>
            <a:r>
              <a:rPr lang="en" sz="17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endParaRPr sz="1700"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Nunito"/>
              <a:buChar char="●"/>
            </a:pPr>
            <a:r>
              <a:rPr lang="en" sz="1700">
                <a:solidFill>
                  <a:schemeClr val="accent2"/>
                </a:solidFill>
                <a:latin typeface="Nunito"/>
                <a:ea typeface="Nunito"/>
                <a:cs typeface="Nunito"/>
                <a:sym typeface="Nunito"/>
              </a:rPr>
              <a:t>Rigid </a:t>
            </a:r>
            <a:r>
              <a:rPr lang="en" sz="17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rPr>
              <a:t>Robot</a:t>
            </a:r>
            <a:endParaRPr sz="1700"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Nunito"/>
              <a:buChar char="●"/>
            </a:pPr>
            <a:r>
              <a:rPr lang="en" sz="1700">
                <a:solidFill>
                  <a:schemeClr val="accent2"/>
                </a:solidFill>
                <a:latin typeface="Nunito"/>
                <a:ea typeface="Nunito"/>
                <a:cs typeface="Nunito"/>
                <a:sym typeface="Nunito"/>
              </a:rPr>
              <a:t>Pure </a:t>
            </a:r>
            <a:r>
              <a:rPr lang="en" sz="17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rPr>
              <a:t>Force</a:t>
            </a:r>
            <a:endParaRPr sz="1700"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Nunito"/>
              <a:buChar char="●"/>
            </a:pPr>
            <a:r>
              <a:rPr lang="en" sz="1700">
                <a:solidFill>
                  <a:schemeClr val="accent2"/>
                </a:solidFill>
                <a:latin typeface="Nunito"/>
                <a:ea typeface="Nunito"/>
                <a:cs typeface="Nunito"/>
                <a:sym typeface="Nunito"/>
              </a:rPr>
              <a:t>Single </a:t>
            </a:r>
            <a:r>
              <a:rPr lang="en" sz="17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rPr>
              <a:t>Contact Location</a:t>
            </a:r>
            <a:endParaRPr sz="1700"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01" name="Google Shape;30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600" y="1877225"/>
            <a:ext cx="7009850" cy="624475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5"/>
          <p:cNvSpPr/>
          <p:nvPr/>
        </p:nvSpPr>
        <p:spPr>
          <a:xfrm>
            <a:off x="6542325" y="1690000"/>
            <a:ext cx="1146300" cy="9996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3" name="Google Shape;303;p15"/>
          <p:cNvSpPr/>
          <p:nvPr/>
        </p:nvSpPr>
        <p:spPr>
          <a:xfrm flipH="1" rot="-832005">
            <a:off x="7930364" y="2229256"/>
            <a:ext cx="491937" cy="1074752"/>
          </a:xfrm>
          <a:prstGeom prst="curvedRightArrow">
            <a:avLst>
              <a:gd fmla="val 25000" name="adj1"/>
              <a:gd fmla="val 50000" name="adj2"/>
              <a:gd fmla="val 47736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04" name="Google Shape;30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95100" y="3592625"/>
            <a:ext cx="795169" cy="514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5"/>
          <p:cNvSpPr/>
          <p:nvPr/>
        </p:nvSpPr>
        <p:spPr>
          <a:xfrm>
            <a:off x="6764700" y="3378400"/>
            <a:ext cx="1146300" cy="999600"/>
          </a:xfrm>
          <a:prstGeom prst="ellipse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6" name="Google Shape;306;p15"/>
          <p:cNvSpPr/>
          <p:nvPr/>
        </p:nvSpPr>
        <p:spPr>
          <a:xfrm flipH="1" rot="10184709">
            <a:off x="5952123" y="2635099"/>
            <a:ext cx="492060" cy="1074735"/>
          </a:xfrm>
          <a:prstGeom prst="curvedRightArrow">
            <a:avLst>
              <a:gd fmla="val 25000" name="adj1"/>
              <a:gd fmla="val 50000" name="adj2"/>
              <a:gd fmla="val 47736" name="adj3"/>
            </a:avLst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6"/>
          <p:cNvSpPr txBox="1"/>
          <p:nvPr>
            <p:ph type="title"/>
          </p:nvPr>
        </p:nvSpPr>
        <p:spPr>
          <a:xfrm>
            <a:off x="1303800" y="598575"/>
            <a:ext cx="3430500" cy="7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20">
                <a:solidFill>
                  <a:schemeClr val="dk1"/>
                </a:solidFill>
              </a:rPr>
              <a:t>Introduction</a:t>
            </a:r>
            <a:endParaRPr sz="3620">
              <a:solidFill>
                <a:schemeClr val="dk1"/>
              </a:solidFill>
            </a:endParaRPr>
          </a:p>
        </p:txBody>
      </p:sp>
      <p:sp>
        <p:nvSpPr>
          <p:cNvPr id="312" name="Google Shape;312;p16"/>
          <p:cNvSpPr txBox="1"/>
          <p:nvPr/>
        </p:nvSpPr>
        <p:spPr>
          <a:xfrm>
            <a:off x="2159375" y="1959327"/>
            <a:ext cx="5540400" cy="11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rPr>
              <a:t>Problem</a:t>
            </a:r>
            <a:r>
              <a:rPr lang="en" sz="17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  <a:endParaRPr sz="1700"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Nunito"/>
              <a:buChar char="●"/>
            </a:pPr>
            <a:r>
              <a:rPr lang="en" sz="17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rPr>
              <a:t>Contact Jacobian is not Full Rank:</a:t>
            </a:r>
            <a:endParaRPr sz="1700"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Nunito"/>
              <a:buChar char="○"/>
            </a:pPr>
            <a:r>
              <a:rPr lang="en" sz="17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rPr>
              <a:t>Singularity</a:t>
            </a:r>
            <a:endParaRPr sz="1700"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Nunito"/>
              <a:buChar char="○"/>
            </a:pPr>
            <a:r>
              <a:rPr lang="en" sz="17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rPr>
              <a:t>Collision occurs below the 6th joint</a:t>
            </a:r>
            <a:endParaRPr sz="1700"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13" name="Google Shape;31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3800" y="1525463"/>
            <a:ext cx="2506420" cy="374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3800" y="3146348"/>
            <a:ext cx="5504906" cy="7683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6"/>
          <p:cNvSpPr/>
          <p:nvPr/>
        </p:nvSpPr>
        <p:spPr>
          <a:xfrm>
            <a:off x="7895100" y="1426063"/>
            <a:ext cx="573000" cy="5730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6" name="Google Shape;316;p16"/>
          <p:cNvSpPr/>
          <p:nvPr/>
        </p:nvSpPr>
        <p:spPr>
          <a:xfrm>
            <a:off x="7864925" y="3240900"/>
            <a:ext cx="573000" cy="5730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7" name="Google Shape;317;p16"/>
          <p:cNvSpPr txBox="1"/>
          <p:nvPr/>
        </p:nvSpPr>
        <p:spPr>
          <a:xfrm>
            <a:off x="2159375" y="3890100"/>
            <a:ext cx="5540400" cy="10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rPr>
              <a:t>Problems</a:t>
            </a:r>
            <a:r>
              <a:rPr lang="en" sz="17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  <a:endParaRPr sz="1700"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Nunito"/>
              <a:buChar char="●"/>
            </a:pPr>
            <a:r>
              <a:rPr lang="en" sz="17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rPr>
              <a:t>Nonlinear Coupling</a:t>
            </a:r>
            <a:endParaRPr sz="1700"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Nunito"/>
              <a:buChar char="●"/>
            </a:pPr>
            <a:r>
              <a:rPr lang="en" sz="17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rPr>
              <a:t>High Noise</a:t>
            </a:r>
            <a:endParaRPr sz="1700"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18" name="Google Shape;31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71650" y="1498142"/>
            <a:ext cx="2826312" cy="500932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6"/>
          <p:cNvSpPr/>
          <p:nvPr/>
        </p:nvSpPr>
        <p:spPr>
          <a:xfrm>
            <a:off x="4044050" y="1596400"/>
            <a:ext cx="573000" cy="309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7"/>
          <p:cNvSpPr txBox="1"/>
          <p:nvPr/>
        </p:nvSpPr>
        <p:spPr>
          <a:xfrm>
            <a:off x="1303800" y="1337175"/>
            <a:ext cx="62058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rPr>
              <a:t>Solution</a:t>
            </a:r>
            <a:r>
              <a:rPr lang="en" sz="17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rPr>
              <a:t>: Extended Momentum-Based Disturbance Observer</a:t>
            </a:r>
            <a:endParaRPr b="1" sz="1700"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5" name="Google Shape;325;p17"/>
          <p:cNvSpPr txBox="1"/>
          <p:nvPr>
            <p:ph type="title"/>
          </p:nvPr>
        </p:nvSpPr>
        <p:spPr>
          <a:xfrm>
            <a:off x="1303800" y="598575"/>
            <a:ext cx="3430500" cy="7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20">
                <a:solidFill>
                  <a:schemeClr val="dk1"/>
                </a:solidFill>
              </a:rPr>
              <a:t>Introduction</a:t>
            </a:r>
            <a:endParaRPr sz="3620">
              <a:solidFill>
                <a:schemeClr val="dk1"/>
              </a:solidFill>
            </a:endParaRPr>
          </a:p>
        </p:txBody>
      </p:sp>
      <p:pic>
        <p:nvPicPr>
          <p:cNvPr id="326" name="Google Shape;32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3800" y="2081200"/>
            <a:ext cx="6686550" cy="98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7"/>
          <p:cNvSpPr txBox="1"/>
          <p:nvPr/>
        </p:nvSpPr>
        <p:spPr>
          <a:xfrm>
            <a:off x="1303800" y="3290075"/>
            <a:ext cx="6205800" cy="18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rPr>
              <a:t>Properties</a:t>
            </a:r>
            <a:r>
              <a:rPr lang="en" sz="17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endParaRPr sz="1700"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Nunito"/>
              <a:buChar char="●"/>
            </a:pPr>
            <a:r>
              <a:rPr lang="en" sz="1700">
                <a:solidFill>
                  <a:schemeClr val="accent2"/>
                </a:solidFill>
                <a:latin typeface="Nunito"/>
                <a:ea typeface="Nunito"/>
                <a:cs typeface="Nunito"/>
                <a:sym typeface="Nunito"/>
              </a:rPr>
              <a:t>Configuration-</a:t>
            </a:r>
            <a:r>
              <a:rPr lang="en" sz="1700">
                <a:solidFill>
                  <a:schemeClr val="accent2"/>
                </a:solidFill>
                <a:latin typeface="Nunito"/>
                <a:ea typeface="Nunito"/>
                <a:cs typeface="Nunito"/>
                <a:sym typeface="Nunito"/>
              </a:rPr>
              <a:t>Independent</a:t>
            </a:r>
            <a:endParaRPr sz="1700">
              <a:solidFill>
                <a:schemeClr val="accen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Nunito"/>
              <a:buChar char="●"/>
            </a:pPr>
            <a:r>
              <a:rPr lang="en" sz="1700">
                <a:solidFill>
                  <a:schemeClr val="accent2"/>
                </a:solidFill>
                <a:latin typeface="Nunito"/>
                <a:ea typeface="Nunito"/>
                <a:cs typeface="Nunito"/>
                <a:sym typeface="Nunito"/>
              </a:rPr>
              <a:t>Singularity-Free</a:t>
            </a:r>
            <a:endParaRPr sz="1700">
              <a:solidFill>
                <a:schemeClr val="accen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Nunito"/>
              <a:buChar char="●"/>
            </a:pPr>
            <a:r>
              <a:rPr lang="en" sz="1700">
                <a:solidFill>
                  <a:schemeClr val="accent2"/>
                </a:solidFill>
                <a:latin typeface="Nunito"/>
                <a:ea typeface="Nunito"/>
                <a:cs typeface="Nunito"/>
                <a:sym typeface="Nunito"/>
              </a:rPr>
              <a:t>Uncoupled</a:t>
            </a:r>
            <a:endParaRPr sz="1700">
              <a:solidFill>
                <a:schemeClr val="accen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Nunito"/>
              <a:buChar char="●"/>
            </a:pPr>
            <a:r>
              <a:rPr lang="en" sz="1700">
                <a:solidFill>
                  <a:schemeClr val="accent2"/>
                </a:solidFill>
                <a:latin typeface="Nunito"/>
                <a:ea typeface="Nunito"/>
                <a:cs typeface="Nunito"/>
                <a:sym typeface="Nunito"/>
              </a:rPr>
              <a:t>No</a:t>
            </a:r>
            <a:r>
              <a:rPr lang="en" sz="1700">
                <a:solidFill>
                  <a:schemeClr val="accent2"/>
                </a:solidFill>
                <a:latin typeface="Nunito"/>
                <a:ea typeface="Nunito"/>
                <a:cs typeface="Nunito"/>
                <a:sym typeface="Nunito"/>
              </a:rPr>
              <a:t> Need</a:t>
            </a:r>
            <a:r>
              <a:rPr lang="en" sz="17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rPr>
              <a:t> of Acceleration Measurements/Estimates</a:t>
            </a:r>
            <a:endParaRPr sz="1700"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Nunito"/>
              <a:buChar char="●"/>
            </a:pPr>
            <a:r>
              <a:rPr lang="en" sz="1700">
                <a:solidFill>
                  <a:schemeClr val="accent2"/>
                </a:solidFill>
                <a:latin typeface="Nunito"/>
                <a:ea typeface="Nunito"/>
                <a:cs typeface="Nunito"/>
                <a:sym typeface="Nunito"/>
              </a:rPr>
              <a:t>Simultaneous</a:t>
            </a:r>
            <a:r>
              <a:rPr lang="en" sz="17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rPr>
              <a:t> Contact Locations can be detected</a:t>
            </a:r>
            <a:endParaRPr sz="1700"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8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Preliminaries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9"/>
          <p:cNvSpPr txBox="1"/>
          <p:nvPr>
            <p:ph type="title"/>
          </p:nvPr>
        </p:nvSpPr>
        <p:spPr>
          <a:xfrm>
            <a:off x="1303800" y="598575"/>
            <a:ext cx="3600000" cy="7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20">
                <a:solidFill>
                  <a:schemeClr val="dk1"/>
                </a:solidFill>
              </a:rPr>
              <a:t>Dynamic Model</a:t>
            </a:r>
            <a:endParaRPr sz="3620">
              <a:solidFill>
                <a:schemeClr val="dk1"/>
              </a:solidFill>
            </a:endParaRPr>
          </a:p>
        </p:txBody>
      </p:sp>
      <p:pic>
        <p:nvPicPr>
          <p:cNvPr id="338" name="Google Shape;33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9575" y="1443475"/>
            <a:ext cx="4784026" cy="42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15050" y="163021"/>
            <a:ext cx="2876550" cy="191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9563" y="2358852"/>
            <a:ext cx="7313026" cy="105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13563" y="3906404"/>
            <a:ext cx="3516900" cy="54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0"/>
          <p:cNvSpPr txBox="1"/>
          <p:nvPr>
            <p:ph type="title"/>
          </p:nvPr>
        </p:nvSpPr>
        <p:spPr>
          <a:xfrm>
            <a:off x="1303800" y="598575"/>
            <a:ext cx="5882400" cy="7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20">
                <a:solidFill>
                  <a:schemeClr val="dk1"/>
                </a:solidFill>
              </a:rPr>
              <a:t>Extended </a:t>
            </a:r>
            <a:r>
              <a:rPr lang="en" sz="3620">
                <a:solidFill>
                  <a:schemeClr val="dk1"/>
                </a:solidFill>
              </a:rPr>
              <a:t>Dynamic Model</a:t>
            </a:r>
            <a:endParaRPr sz="3620">
              <a:solidFill>
                <a:schemeClr val="dk1"/>
              </a:solidFill>
            </a:endParaRPr>
          </a:p>
        </p:txBody>
      </p:sp>
      <p:pic>
        <p:nvPicPr>
          <p:cNvPr id="347" name="Google Shape;34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152400"/>
            <a:ext cx="6260548" cy="43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05885" y="196085"/>
            <a:ext cx="1525750" cy="35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98675" y="4309098"/>
            <a:ext cx="2936838" cy="628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01975" y="778875"/>
            <a:ext cx="1533525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97000" y="1606625"/>
            <a:ext cx="5895975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48275" y="2504720"/>
            <a:ext cx="6957601" cy="17281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1"/>
          <p:cNvSpPr txBox="1"/>
          <p:nvPr>
            <p:ph type="title"/>
          </p:nvPr>
        </p:nvSpPr>
        <p:spPr>
          <a:xfrm>
            <a:off x="1329600" y="143025"/>
            <a:ext cx="6484800" cy="13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20">
                <a:solidFill>
                  <a:schemeClr val="dk1"/>
                </a:solidFill>
              </a:rPr>
              <a:t>Extended Momentum-Based Disturbance Observer</a:t>
            </a:r>
            <a:endParaRPr sz="3620">
              <a:solidFill>
                <a:schemeClr val="dk1"/>
              </a:solidFill>
            </a:endParaRPr>
          </a:p>
        </p:txBody>
      </p:sp>
      <p:pic>
        <p:nvPicPr>
          <p:cNvPr id="358" name="Google Shape;35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5313" y="1738925"/>
            <a:ext cx="6813374" cy="83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9598" y="3047888"/>
            <a:ext cx="6484801" cy="567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13" y="3894225"/>
            <a:ext cx="8839200" cy="729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2"/>
          <p:cNvSpPr txBox="1"/>
          <p:nvPr>
            <p:ph type="title"/>
          </p:nvPr>
        </p:nvSpPr>
        <p:spPr>
          <a:xfrm>
            <a:off x="824000" y="1613825"/>
            <a:ext cx="5524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Implementation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3"/>
          <p:cNvSpPr txBox="1"/>
          <p:nvPr>
            <p:ph type="title"/>
          </p:nvPr>
        </p:nvSpPr>
        <p:spPr>
          <a:xfrm>
            <a:off x="1186250" y="0"/>
            <a:ext cx="5559000" cy="7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20">
                <a:solidFill>
                  <a:schemeClr val="dk1"/>
                </a:solidFill>
              </a:rPr>
              <a:t>Project Implementation</a:t>
            </a:r>
            <a:endParaRPr sz="3620">
              <a:solidFill>
                <a:schemeClr val="dk1"/>
              </a:solidFill>
            </a:endParaRPr>
          </a:p>
        </p:txBody>
      </p:sp>
      <p:pic>
        <p:nvPicPr>
          <p:cNvPr id="371" name="Google Shape;37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38588"/>
            <a:ext cx="9144000" cy="3899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4"/>
          <p:cNvSpPr txBox="1"/>
          <p:nvPr>
            <p:ph type="title"/>
          </p:nvPr>
        </p:nvSpPr>
        <p:spPr>
          <a:xfrm>
            <a:off x="0" y="19275"/>
            <a:ext cx="5559000" cy="7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20">
                <a:solidFill>
                  <a:schemeClr val="dk1"/>
                </a:solidFill>
              </a:rPr>
              <a:t>Project Implementation</a:t>
            </a:r>
            <a:endParaRPr sz="3620">
              <a:solidFill>
                <a:schemeClr val="dk1"/>
              </a:solidFill>
            </a:endParaRPr>
          </a:p>
        </p:txBody>
      </p:sp>
      <p:sp>
        <p:nvSpPr>
          <p:cNvPr id="377" name="Google Shape;377;p24"/>
          <p:cNvSpPr txBox="1"/>
          <p:nvPr/>
        </p:nvSpPr>
        <p:spPr>
          <a:xfrm>
            <a:off x="1456200" y="1100525"/>
            <a:ext cx="3896400" cy="441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Eternal Force Estimation</a:t>
            </a:r>
            <a:endParaRPr sz="17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8" name="Google Shape;378;p24"/>
          <p:cNvSpPr txBox="1"/>
          <p:nvPr/>
        </p:nvSpPr>
        <p:spPr>
          <a:xfrm>
            <a:off x="1482150" y="2053025"/>
            <a:ext cx="5202300" cy="441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Extended Residuals</a:t>
            </a:r>
            <a:endParaRPr sz="17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9" name="Google Shape;379;p24"/>
          <p:cNvSpPr txBox="1"/>
          <p:nvPr/>
        </p:nvSpPr>
        <p:spPr>
          <a:xfrm>
            <a:off x="2685900" y="2929325"/>
            <a:ext cx="2590500" cy="4410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Extended Momentum</a:t>
            </a:r>
            <a:endParaRPr sz="17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80" name="Google Shape;380;p24"/>
          <p:cNvSpPr txBox="1"/>
          <p:nvPr/>
        </p:nvSpPr>
        <p:spPr>
          <a:xfrm>
            <a:off x="5352600" y="2929325"/>
            <a:ext cx="2590500" cy="441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Extended n</a:t>
            </a:r>
            <a:endParaRPr sz="17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81" name="Google Shape;381;p24"/>
          <p:cNvSpPr txBox="1"/>
          <p:nvPr/>
        </p:nvSpPr>
        <p:spPr>
          <a:xfrm>
            <a:off x="1456200" y="3843725"/>
            <a:ext cx="5202300" cy="4410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Gen. Coords and Gen Velocities</a:t>
            </a:r>
            <a:endParaRPr sz="17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82" name="Google Shape;382;p24"/>
          <p:cNvSpPr txBox="1"/>
          <p:nvPr/>
        </p:nvSpPr>
        <p:spPr>
          <a:xfrm>
            <a:off x="0" y="2929325"/>
            <a:ext cx="2590500" cy="441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Base Measurements</a:t>
            </a:r>
            <a:endParaRPr sz="17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83" name="Google Shape;383;p24"/>
          <p:cNvSpPr txBox="1"/>
          <p:nvPr/>
        </p:nvSpPr>
        <p:spPr>
          <a:xfrm>
            <a:off x="1303800" y="4665725"/>
            <a:ext cx="2590500" cy="4410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Control Law</a:t>
            </a:r>
            <a:endParaRPr sz="17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84" name="Google Shape;384;p24"/>
          <p:cNvSpPr txBox="1"/>
          <p:nvPr/>
        </p:nvSpPr>
        <p:spPr>
          <a:xfrm>
            <a:off x="4194750" y="4665725"/>
            <a:ext cx="2590500" cy="4410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External Torques</a:t>
            </a:r>
            <a:endParaRPr sz="17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85" name="Google Shape;385;p24"/>
          <p:cNvSpPr/>
          <p:nvPr/>
        </p:nvSpPr>
        <p:spPr>
          <a:xfrm rot="-2136491">
            <a:off x="2704238" y="4356354"/>
            <a:ext cx="425083" cy="21611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86" name="Google Shape;386;p24"/>
          <p:cNvSpPr/>
          <p:nvPr/>
        </p:nvSpPr>
        <p:spPr>
          <a:xfrm rot="-8103431">
            <a:off x="5218716" y="4356523"/>
            <a:ext cx="425113" cy="21595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87" name="Google Shape;387;p24"/>
          <p:cNvSpPr/>
          <p:nvPr/>
        </p:nvSpPr>
        <p:spPr>
          <a:xfrm rot="-8103431">
            <a:off x="1942116" y="3518323"/>
            <a:ext cx="425113" cy="21595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88" name="Google Shape;388;p24"/>
          <p:cNvSpPr/>
          <p:nvPr/>
        </p:nvSpPr>
        <p:spPr>
          <a:xfrm rot="-2136491">
            <a:off x="5980838" y="3518154"/>
            <a:ext cx="425083" cy="21611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89" name="Google Shape;389;p24"/>
          <p:cNvSpPr/>
          <p:nvPr/>
        </p:nvSpPr>
        <p:spPr>
          <a:xfrm rot="-5402426">
            <a:off x="3770980" y="3518204"/>
            <a:ext cx="425100" cy="21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90" name="Google Shape;390;p24"/>
          <p:cNvSpPr/>
          <p:nvPr/>
        </p:nvSpPr>
        <p:spPr>
          <a:xfrm rot="-5402426">
            <a:off x="3770980" y="2603804"/>
            <a:ext cx="425100" cy="21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91" name="Google Shape;391;p24"/>
          <p:cNvSpPr/>
          <p:nvPr/>
        </p:nvSpPr>
        <p:spPr>
          <a:xfrm rot="-5402426">
            <a:off x="3048030" y="1689279"/>
            <a:ext cx="425100" cy="21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92" name="Google Shape;392;p24"/>
          <p:cNvSpPr/>
          <p:nvPr/>
        </p:nvSpPr>
        <p:spPr>
          <a:xfrm rot="-2136491">
            <a:off x="1942238" y="2603754"/>
            <a:ext cx="425083" cy="21611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93" name="Google Shape;393;p24"/>
          <p:cNvSpPr/>
          <p:nvPr/>
        </p:nvSpPr>
        <p:spPr>
          <a:xfrm rot="-8103431">
            <a:off x="6056916" y="2603923"/>
            <a:ext cx="425113" cy="21595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94" name="Google Shape;39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4450" y="2564689"/>
            <a:ext cx="2415825" cy="348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52600" y="0"/>
            <a:ext cx="3791399" cy="1616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5"/>
          <p:cNvSpPr txBox="1"/>
          <p:nvPr>
            <p:ph type="title"/>
          </p:nvPr>
        </p:nvSpPr>
        <p:spPr>
          <a:xfrm>
            <a:off x="0" y="19275"/>
            <a:ext cx="5559000" cy="7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20">
                <a:solidFill>
                  <a:schemeClr val="dk1"/>
                </a:solidFill>
              </a:rPr>
              <a:t>Project Implementation</a:t>
            </a:r>
            <a:endParaRPr sz="3620">
              <a:solidFill>
                <a:schemeClr val="dk1"/>
              </a:solidFill>
            </a:endParaRPr>
          </a:p>
        </p:txBody>
      </p:sp>
      <p:pic>
        <p:nvPicPr>
          <p:cNvPr id="401" name="Google Shape;40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9263" y="836800"/>
            <a:ext cx="4965479" cy="408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44425" y="201475"/>
            <a:ext cx="2506420" cy="374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6"/>
          <p:cNvSpPr txBox="1"/>
          <p:nvPr>
            <p:ph type="title"/>
          </p:nvPr>
        </p:nvSpPr>
        <p:spPr>
          <a:xfrm>
            <a:off x="0" y="19275"/>
            <a:ext cx="5559000" cy="7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20">
                <a:solidFill>
                  <a:schemeClr val="dk1"/>
                </a:solidFill>
              </a:rPr>
              <a:t>Project Implementation</a:t>
            </a:r>
            <a:endParaRPr sz="3620">
              <a:solidFill>
                <a:schemeClr val="dk1"/>
              </a:solidFill>
            </a:endParaRPr>
          </a:p>
        </p:txBody>
      </p:sp>
      <p:sp>
        <p:nvSpPr>
          <p:cNvPr id="408" name="Google Shape;408;p26"/>
          <p:cNvSpPr txBox="1"/>
          <p:nvPr/>
        </p:nvSpPr>
        <p:spPr>
          <a:xfrm>
            <a:off x="0" y="2267288"/>
            <a:ext cx="2184000" cy="13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202124"/>
                </a:solidFill>
                <a:highlight>
                  <a:srgbClr val="F8F9FA"/>
                </a:highlight>
              </a:rPr>
              <a:t>from the inverse dynamics using Newton-Euler</a:t>
            </a:r>
            <a:endParaRPr sz="2100">
              <a:solidFill>
                <a:srgbClr val="202124"/>
              </a:solidFill>
              <a:highlight>
                <a:srgbClr val="F8F9FA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09" name="Google Shape;40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3638" y="822100"/>
            <a:ext cx="4276725" cy="361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7"/>
          <p:cNvSpPr txBox="1"/>
          <p:nvPr>
            <p:ph type="title"/>
          </p:nvPr>
        </p:nvSpPr>
        <p:spPr>
          <a:xfrm>
            <a:off x="0" y="19275"/>
            <a:ext cx="5559000" cy="7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20">
                <a:solidFill>
                  <a:schemeClr val="dk1"/>
                </a:solidFill>
              </a:rPr>
              <a:t>Project Implementation</a:t>
            </a:r>
            <a:endParaRPr sz="3620">
              <a:solidFill>
                <a:schemeClr val="dk1"/>
              </a:solidFill>
            </a:endParaRPr>
          </a:p>
        </p:txBody>
      </p:sp>
      <p:pic>
        <p:nvPicPr>
          <p:cNvPr id="415" name="Google Shape;41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96638"/>
            <a:ext cx="8839202" cy="15502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3800" y="3681400"/>
            <a:ext cx="6686550" cy="98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8"/>
          <p:cNvSpPr txBox="1"/>
          <p:nvPr>
            <p:ph type="title"/>
          </p:nvPr>
        </p:nvSpPr>
        <p:spPr>
          <a:xfrm>
            <a:off x="0" y="19275"/>
            <a:ext cx="5559000" cy="7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20">
                <a:solidFill>
                  <a:schemeClr val="dk1"/>
                </a:solidFill>
              </a:rPr>
              <a:t>Project Implementation</a:t>
            </a:r>
            <a:endParaRPr sz="3620">
              <a:solidFill>
                <a:schemeClr val="dk1"/>
              </a:solidFill>
            </a:endParaRPr>
          </a:p>
        </p:txBody>
      </p:sp>
      <p:pic>
        <p:nvPicPr>
          <p:cNvPr id="422" name="Google Shape;42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43025"/>
            <a:ext cx="8839198" cy="2057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9"/>
          <p:cNvSpPr txBox="1"/>
          <p:nvPr>
            <p:ph type="title"/>
          </p:nvPr>
        </p:nvSpPr>
        <p:spPr>
          <a:xfrm>
            <a:off x="0" y="19275"/>
            <a:ext cx="5559000" cy="7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20">
                <a:solidFill>
                  <a:schemeClr val="dk1"/>
                </a:solidFill>
              </a:rPr>
              <a:t>Project Implementation</a:t>
            </a:r>
            <a:endParaRPr sz="3620">
              <a:solidFill>
                <a:schemeClr val="dk1"/>
              </a:solidFill>
            </a:endParaRPr>
          </a:p>
        </p:txBody>
      </p:sp>
      <p:pic>
        <p:nvPicPr>
          <p:cNvPr id="428" name="Google Shape;42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89650"/>
            <a:ext cx="8839200" cy="21641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00347" y="4254774"/>
            <a:ext cx="3517575" cy="43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0"/>
          <p:cNvSpPr txBox="1"/>
          <p:nvPr>
            <p:ph type="title"/>
          </p:nvPr>
        </p:nvSpPr>
        <p:spPr>
          <a:xfrm>
            <a:off x="0" y="19275"/>
            <a:ext cx="5559000" cy="7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20">
                <a:solidFill>
                  <a:schemeClr val="dk1"/>
                </a:solidFill>
              </a:rPr>
              <a:t>Project Implementation</a:t>
            </a:r>
            <a:endParaRPr sz="3620">
              <a:solidFill>
                <a:schemeClr val="dk1"/>
              </a:solidFill>
            </a:endParaRPr>
          </a:p>
        </p:txBody>
      </p:sp>
      <p:pic>
        <p:nvPicPr>
          <p:cNvPr id="435" name="Google Shape;43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5849" y="1433375"/>
            <a:ext cx="7072299" cy="24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4113" y="4071525"/>
            <a:ext cx="8335779" cy="91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1"/>
          <p:cNvSpPr txBox="1"/>
          <p:nvPr>
            <p:ph type="title"/>
          </p:nvPr>
        </p:nvSpPr>
        <p:spPr>
          <a:xfrm>
            <a:off x="824000" y="1613825"/>
            <a:ext cx="5524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Simulations &amp; Results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2"/>
          <p:cNvSpPr txBox="1"/>
          <p:nvPr>
            <p:ph type="title"/>
          </p:nvPr>
        </p:nvSpPr>
        <p:spPr>
          <a:xfrm>
            <a:off x="1303800" y="598575"/>
            <a:ext cx="5882400" cy="7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20">
                <a:solidFill>
                  <a:schemeClr val="dk1"/>
                </a:solidFill>
              </a:rPr>
              <a:t>First Simulation</a:t>
            </a:r>
            <a:endParaRPr sz="3620">
              <a:solidFill>
                <a:schemeClr val="dk1"/>
              </a:solidFill>
            </a:endParaRPr>
          </a:p>
        </p:txBody>
      </p:sp>
      <p:sp>
        <p:nvSpPr>
          <p:cNvPr id="447" name="Google Shape;447;p32"/>
          <p:cNvSpPr txBox="1"/>
          <p:nvPr/>
        </p:nvSpPr>
        <p:spPr>
          <a:xfrm>
            <a:off x="720100" y="3291850"/>
            <a:ext cx="21456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Below the 6th joint</a:t>
            </a:r>
            <a:endParaRPr b="1" sz="1700"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48" name="Google Shape;448;p32"/>
          <p:cNvSpPr txBox="1"/>
          <p:nvPr/>
        </p:nvSpPr>
        <p:spPr>
          <a:xfrm>
            <a:off x="5599075" y="3291850"/>
            <a:ext cx="13374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Singularity</a:t>
            </a:r>
            <a:endParaRPr b="1" sz="1700"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49" name="Google Shape;449;p32"/>
          <p:cNvSpPr/>
          <p:nvPr/>
        </p:nvSpPr>
        <p:spPr>
          <a:xfrm rot="-7948517">
            <a:off x="3247450" y="2814356"/>
            <a:ext cx="510461" cy="1180589"/>
          </a:xfrm>
          <a:prstGeom prst="curvedRightArrow">
            <a:avLst>
              <a:gd fmla="val 25000" name="adj1"/>
              <a:gd fmla="val 50000" name="adj2"/>
              <a:gd fmla="val 47736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50" name="Google Shape;450;p32"/>
          <p:cNvSpPr/>
          <p:nvPr/>
        </p:nvSpPr>
        <p:spPr>
          <a:xfrm flipH="1" rot="7561036">
            <a:off x="4624244" y="2837588"/>
            <a:ext cx="499975" cy="1187475"/>
          </a:xfrm>
          <a:prstGeom prst="curvedRightArrow">
            <a:avLst>
              <a:gd fmla="val 25000" name="adj1"/>
              <a:gd fmla="val 50000" name="adj2"/>
              <a:gd fmla="val 47736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51" name="Google Shape;45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963" y="1719188"/>
            <a:ext cx="8220075" cy="119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3"/>
          <p:cNvSpPr txBox="1"/>
          <p:nvPr>
            <p:ph type="title"/>
          </p:nvPr>
        </p:nvSpPr>
        <p:spPr>
          <a:xfrm>
            <a:off x="1259700" y="0"/>
            <a:ext cx="7557600" cy="7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20">
                <a:solidFill>
                  <a:schemeClr val="dk1"/>
                </a:solidFill>
              </a:rPr>
              <a:t>First Simulation: Joint Velocity</a:t>
            </a:r>
            <a:endParaRPr sz="3620">
              <a:solidFill>
                <a:schemeClr val="dk1"/>
              </a:solidFill>
            </a:endParaRPr>
          </a:p>
        </p:txBody>
      </p:sp>
      <p:pic>
        <p:nvPicPr>
          <p:cNvPr id="457" name="Google Shape;45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1000"/>
            <a:ext cx="8839202" cy="4057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4"/>
          <p:cNvSpPr txBox="1"/>
          <p:nvPr>
            <p:ph type="title"/>
          </p:nvPr>
        </p:nvSpPr>
        <p:spPr>
          <a:xfrm>
            <a:off x="1259700" y="0"/>
            <a:ext cx="7731900" cy="7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20">
                <a:solidFill>
                  <a:schemeClr val="dk1"/>
                </a:solidFill>
              </a:rPr>
              <a:t>First Simulation: Joint Position</a:t>
            </a:r>
            <a:endParaRPr sz="3620">
              <a:solidFill>
                <a:schemeClr val="dk1"/>
              </a:solidFill>
            </a:endParaRPr>
          </a:p>
        </p:txBody>
      </p:sp>
      <p:pic>
        <p:nvPicPr>
          <p:cNvPr id="463" name="Google Shape;46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1000"/>
            <a:ext cx="8839202" cy="4057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5"/>
          <p:cNvSpPr txBox="1"/>
          <p:nvPr>
            <p:ph type="title"/>
          </p:nvPr>
        </p:nvSpPr>
        <p:spPr>
          <a:xfrm>
            <a:off x="1259700" y="0"/>
            <a:ext cx="7731900" cy="7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20">
                <a:solidFill>
                  <a:schemeClr val="dk1"/>
                </a:solidFill>
              </a:rPr>
              <a:t>First Simulation: Detection</a:t>
            </a:r>
            <a:endParaRPr sz="3620">
              <a:solidFill>
                <a:schemeClr val="dk1"/>
              </a:solidFill>
            </a:endParaRPr>
          </a:p>
        </p:txBody>
      </p:sp>
      <p:pic>
        <p:nvPicPr>
          <p:cNvPr id="469" name="Google Shape;46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1000"/>
            <a:ext cx="8839202" cy="40507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36"/>
          <p:cNvSpPr txBox="1"/>
          <p:nvPr>
            <p:ph type="title"/>
          </p:nvPr>
        </p:nvSpPr>
        <p:spPr>
          <a:xfrm>
            <a:off x="1259700" y="0"/>
            <a:ext cx="7731900" cy="7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20">
                <a:solidFill>
                  <a:schemeClr val="dk1"/>
                </a:solidFill>
              </a:rPr>
              <a:t>First Simulation: Isolation</a:t>
            </a:r>
            <a:endParaRPr sz="3620">
              <a:solidFill>
                <a:schemeClr val="dk1"/>
              </a:solidFill>
            </a:endParaRPr>
          </a:p>
        </p:txBody>
      </p:sp>
      <p:pic>
        <p:nvPicPr>
          <p:cNvPr id="475" name="Google Shape;47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1000"/>
            <a:ext cx="8839202" cy="4057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7"/>
          <p:cNvSpPr txBox="1"/>
          <p:nvPr>
            <p:ph type="title"/>
          </p:nvPr>
        </p:nvSpPr>
        <p:spPr>
          <a:xfrm>
            <a:off x="1259700" y="0"/>
            <a:ext cx="7731900" cy="7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20">
                <a:solidFill>
                  <a:schemeClr val="dk1"/>
                </a:solidFill>
              </a:rPr>
              <a:t>First Simulation: Identification</a:t>
            </a:r>
            <a:endParaRPr sz="3620">
              <a:solidFill>
                <a:schemeClr val="dk1"/>
              </a:solidFill>
            </a:endParaRPr>
          </a:p>
        </p:txBody>
      </p:sp>
      <p:pic>
        <p:nvPicPr>
          <p:cNvPr id="481" name="Google Shape;48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1000"/>
            <a:ext cx="8839197" cy="403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8"/>
          <p:cNvSpPr txBox="1"/>
          <p:nvPr>
            <p:ph type="title"/>
          </p:nvPr>
        </p:nvSpPr>
        <p:spPr>
          <a:xfrm>
            <a:off x="1303800" y="598575"/>
            <a:ext cx="5882400" cy="7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20">
                <a:solidFill>
                  <a:schemeClr val="dk1"/>
                </a:solidFill>
              </a:rPr>
              <a:t>Second</a:t>
            </a:r>
            <a:r>
              <a:rPr lang="en" sz="3620">
                <a:solidFill>
                  <a:schemeClr val="dk1"/>
                </a:solidFill>
              </a:rPr>
              <a:t> Simulation</a:t>
            </a:r>
            <a:endParaRPr sz="3620">
              <a:solidFill>
                <a:schemeClr val="dk1"/>
              </a:solidFill>
            </a:endParaRPr>
          </a:p>
        </p:txBody>
      </p:sp>
      <p:sp>
        <p:nvSpPr>
          <p:cNvPr id="487" name="Google Shape;487;p38"/>
          <p:cNvSpPr txBox="1"/>
          <p:nvPr/>
        </p:nvSpPr>
        <p:spPr>
          <a:xfrm>
            <a:off x="720100" y="3291850"/>
            <a:ext cx="21456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Below the 6th joint</a:t>
            </a:r>
            <a:endParaRPr b="1" sz="1700"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88" name="Google Shape;488;p38"/>
          <p:cNvSpPr txBox="1"/>
          <p:nvPr/>
        </p:nvSpPr>
        <p:spPr>
          <a:xfrm>
            <a:off x="5599075" y="3291850"/>
            <a:ext cx="13374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Singularity</a:t>
            </a:r>
            <a:endParaRPr b="1" sz="1700"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89" name="Google Shape;489;p38"/>
          <p:cNvSpPr/>
          <p:nvPr/>
        </p:nvSpPr>
        <p:spPr>
          <a:xfrm rot="-7948517">
            <a:off x="3247450" y="2814356"/>
            <a:ext cx="510461" cy="1180589"/>
          </a:xfrm>
          <a:prstGeom prst="curvedRightArrow">
            <a:avLst>
              <a:gd fmla="val 25000" name="adj1"/>
              <a:gd fmla="val 50000" name="adj2"/>
              <a:gd fmla="val 47736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90" name="Google Shape;490;p38"/>
          <p:cNvSpPr/>
          <p:nvPr/>
        </p:nvSpPr>
        <p:spPr>
          <a:xfrm flipH="1" rot="7561036">
            <a:off x="4624244" y="2837588"/>
            <a:ext cx="499975" cy="1187475"/>
          </a:xfrm>
          <a:prstGeom prst="curvedRightArrow">
            <a:avLst>
              <a:gd fmla="val 25000" name="adj1"/>
              <a:gd fmla="val 50000" name="adj2"/>
              <a:gd fmla="val 47736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91" name="Google Shape;49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900" y="1491650"/>
            <a:ext cx="8458200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9"/>
          <p:cNvSpPr txBox="1"/>
          <p:nvPr>
            <p:ph type="title"/>
          </p:nvPr>
        </p:nvSpPr>
        <p:spPr>
          <a:xfrm>
            <a:off x="1131575" y="0"/>
            <a:ext cx="7685700" cy="7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20">
                <a:solidFill>
                  <a:schemeClr val="dk1"/>
                </a:solidFill>
              </a:rPr>
              <a:t>Second </a:t>
            </a:r>
            <a:r>
              <a:rPr lang="en" sz="3620">
                <a:solidFill>
                  <a:schemeClr val="dk1"/>
                </a:solidFill>
              </a:rPr>
              <a:t>Simulation: Joint Velocity</a:t>
            </a:r>
            <a:endParaRPr sz="3620">
              <a:solidFill>
                <a:schemeClr val="dk1"/>
              </a:solidFill>
            </a:endParaRPr>
          </a:p>
        </p:txBody>
      </p:sp>
      <p:pic>
        <p:nvPicPr>
          <p:cNvPr id="497" name="Google Shape;49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1000"/>
            <a:ext cx="8839202" cy="40442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0"/>
          <p:cNvSpPr txBox="1"/>
          <p:nvPr>
            <p:ph type="title"/>
          </p:nvPr>
        </p:nvSpPr>
        <p:spPr>
          <a:xfrm>
            <a:off x="1131575" y="0"/>
            <a:ext cx="7685700" cy="7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20">
                <a:solidFill>
                  <a:schemeClr val="dk1"/>
                </a:solidFill>
              </a:rPr>
              <a:t>Second Simulation: Joint Potion</a:t>
            </a:r>
            <a:endParaRPr sz="3620">
              <a:solidFill>
                <a:schemeClr val="dk1"/>
              </a:solidFill>
            </a:endParaRPr>
          </a:p>
        </p:txBody>
      </p:sp>
      <p:pic>
        <p:nvPicPr>
          <p:cNvPr id="503" name="Google Shape;50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1000"/>
            <a:ext cx="8839202" cy="4024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41"/>
          <p:cNvSpPr txBox="1"/>
          <p:nvPr>
            <p:ph type="title"/>
          </p:nvPr>
        </p:nvSpPr>
        <p:spPr>
          <a:xfrm>
            <a:off x="1131575" y="0"/>
            <a:ext cx="7685700" cy="7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20">
                <a:solidFill>
                  <a:schemeClr val="dk1"/>
                </a:solidFill>
              </a:rPr>
              <a:t>Second Simulation: Detection</a:t>
            </a:r>
            <a:endParaRPr sz="3620">
              <a:solidFill>
                <a:schemeClr val="dk1"/>
              </a:solidFill>
            </a:endParaRPr>
          </a:p>
        </p:txBody>
      </p:sp>
      <p:pic>
        <p:nvPicPr>
          <p:cNvPr id="509" name="Google Shape;50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1000"/>
            <a:ext cx="8839202" cy="4024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42"/>
          <p:cNvSpPr txBox="1"/>
          <p:nvPr>
            <p:ph type="title"/>
          </p:nvPr>
        </p:nvSpPr>
        <p:spPr>
          <a:xfrm>
            <a:off x="1131575" y="0"/>
            <a:ext cx="7685700" cy="7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20">
                <a:solidFill>
                  <a:schemeClr val="dk1"/>
                </a:solidFill>
              </a:rPr>
              <a:t>Second Simulation: Isolation</a:t>
            </a:r>
            <a:endParaRPr sz="3620">
              <a:solidFill>
                <a:schemeClr val="dk1"/>
              </a:solidFill>
            </a:endParaRPr>
          </a:p>
        </p:txBody>
      </p:sp>
      <p:pic>
        <p:nvPicPr>
          <p:cNvPr id="515" name="Google Shape;51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1000"/>
            <a:ext cx="8839202" cy="4031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3"/>
          <p:cNvSpPr txBox="1"/>
          <p:nvPr>
            <p:ph type="title"/>
          </p:nvPr>
        </p:nvSpPr>
        <p:spPr>
          <a:xfrm>
            <a:off x="1131575" y="0"/>
            <a:ext cx="7685700" cy="7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20">
                <a:solidFill>
                  <a:schemeClr val="dk1"/>
                </a:solidFill>
              </a:rPr>
              <a:t>Second Simulation: Identification</a:t>
            </a:r>
            <a:endParaRPr sz="3620">
              <a:solidFill>
                <a:schemeClr val="dk1"/>
              </a:solidFill>
            </a:endParaRPr>
          </a:p>
        </p:txBody>
      </p:sp>
      <p:pic>
        <p:nvPicPr>
          <p:cNvPr id="521" name="Google Shape;52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1000"/>
            <a:ext cx="8839197" cy="403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44"/>
          <p:cNvSpPr txBox="1"/>
          <p:nvPr>
            <p:ph type="title"/>
          </p:nvPr>
        </p:nvSpPr>
        <p:spPr>
          <a:xfrm>
            <a:off x="824000" y="1613825"/>
            <a:ext cx="5524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45"/>
          <p:cNvSpPr txBox="1"/>
          <p:nvPr>
            <p:ph type="title"/>
          </p:nvPr>
        </p:nvSpPr>
        <p:spPr>
          <a:xfrm>
            <a:off x="1303800" y="598575"/>
            <a:ext cx="3384000" cy="7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20">
                <a:solidFill>
                  <a:schemeClr val="dk1"/>
                </a:solidFill>
              </a:rPr>
              <a:t>Conclusions</a:t>
            </a:r>
            <a:endParaRPr sz="3620">
              <a:solidFill>
                <a:schemeClr val="dk1"/>
              </a:solidFill>
            </a:endParaRPr>
          </a:p>
        </p:txBody>
      </p:sp>
      <p:sp>
        <p:nvSpPr>
          <p:cNvPr id="532" name="Google Shape;532;p45"/>
          <p:cNvSpPr txBox="1"/>
          <p:nvPr/>
        </p:nvSpPr>
        <p:spPr>
          <a:xfrm>
            <a:off x="1366700" y="1675300"/>
            <a:ext cx="6995100" cy="27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Nunito"/>
              <a:buChar char="●"/>
            </a:pPr>
            <a:r>
              <a:rPr lang="en" sz="2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Decoupled forc</a:t>
            </a:r>
            <a:r>
              <a:rPr lang="en" sz="2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e-torque </a:t>
            </a:r>
            <a:r>
              <a:rPr lang="en" sz="2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estimations</a:t>
            </a:r>
            <a:endParaRPr sz="2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Nunito"/>
              <a:buChar char="●"/>
            </a:pPr>
            <a:r>
              <a:rPr lang="en" sz="2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Independence from joint configuration and immunity to singularities</a:t>
            </a:r>
            <a:endParaRPr sz="2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Nunito"/>
              <a:buChar char="●"/>
            </a:pPr>
            <a:r>
              <a:rPr lang="en" sz="2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High accuracy despite singularity and external torques at joint level</a:t>
            </a:r>
            <a:endParaRPr sz="2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